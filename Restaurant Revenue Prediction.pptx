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81" d="100"/>
          <a:sy n="81" d="100"/>
        </p:scale>
        <p:origin x="677"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4A092E2-E1EA-4756-9962-22844F2A95B9}" type="datetimeFigureOut">
              <a:rPr lang="en-IN" smtClean="0"/>
              <a:t>12-07-2024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421923-D191-4691-A859-09062AB57208}" type="slidenum">
              <a:rPr lang="en-IN" smtClean="0"/>
              <a:t>‹#›</a:t>
            </a:fld>
            <a:endParaRPr lang="en-IN"/>
          </a:p>
        </p:txBody>
      </p:sp>
    </p:spTree>
    <p:extLst>
      <p:ext uri="{BB962C8B-B14F-4D97-AF65-F5344CB8AC3E}">
        <p14:creationId xmlns:p14="http://schemas.microsoft.com/office/powerpoint/2010/main" val="1054255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A092E2-E1EA-4756-9962-22844F2A95B9}" type="datetimeFigureOut">
              <a:rPr lang="en-IN" smtClean="0"/>
              <a:t>12-07-2024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421923-D191-4691-A859-09062AB57208}" type="slidenum">
              <a:rPr lang="en-IN" smtClean="0"/>
              <a:t>‹#›</a:t>
            </a:fld>
            <a:endParaRPr lang="en-IN"/>
          </a:p>
        </p:txBody>
      </p:sp>
    </p:spTree>
    <p:extLst>
      <p:ext uri="{BB962C8B-B14F-4D97-AF65-F5344CB8AC3E}">
        <p14:creationId xmlns:p14="http://schemas.microsoft.com/office/powerpoint/2010/main" val="690264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A092E2-E1EA-4756-9962-22844F2A95B9}" type="datetimeFigureOut">
              <a:rPr lang="en-IN" smtClean="0"/>
              <a:t>12-07-2024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421923-D191-4691-A859-09062AB57208}" type="slidenum">
              <a:rPr lang="en-IN" smtClean="0"/>
              <a:t>‹#›</a:t>
            </a:fld>
            <a:endParaRPr lang="en-IN"/>
          </a:p>
        </p:txBody>
      </p:sp>
    </p:spTree>
    <p:extLst>
      <p:ext uri="{BB962C8B-B14F-4D97-AF65-F5344CB8AC3E}">
        <p14:creationId xmlns:p14="http://schemas.microsoft.com/office/powerpoint/2010/main" val="1243551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4A092E2-E1EA-4756-9962-22844F2A95B9}" type="datetimeFigureOut">
              <a:rPr lang="en-IN" smtClean="0"/>
              <a:t>12-07-2024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421923-D191-4691-A859-09062AB57208}" type="slidenum">
              <a:rPr lang="en-IN" smtClean="0"/>
              <a:t>‹#›</a:t>
            </a:fld>
            <a:endParaRPr lang="en-IN"/>
          </a:p>
        </p:txBody>
      </p:sp>
    </p:spTree>
    <p:extLst>
      <p:ext uri="{BB962C8B-B14F-4D97-AF65-F5344CB8AC3E}">
        <p14:creationId xmlns:p14="http://schemas.microsoft.com/office/powerpoint/2010/main" val="2088751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4A092E2-E1EA-4756-9962-22844F2A95B9}" type="datetimeFigureOut">
              <a:rPr lang="en-IN" smtClean="0"/>
              <a:t>12-07-2024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0421923-D191-4691-A859-09062AB57208}" type="slidenum">
              <a:rPr lang="en-IN" smtClean="0"/>
              <a:t>‹#›</a:t>
            </a:fld>
            <a:endParaRPr lang="en-IN"/>
          </a:p>
        </p:txBody>
      </p:sp>
    </p:spTree>
    <p:extLst>
      <p:ext uri="{BB962C8B-B14F-4D97-AF65-F5344CB8AC3E}">
        <p14:creationId xmlns:p14="http://schemas.microsoft.com/office/powerpoint/2010/main" val="2201012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4A092E2-E1EA-4756-9962-22844F2A95B9}" type="datetimeFigureOut">
              <a:rPr lang="en-IN" smtClean="0"/>
              <a:t>12-07-2024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0421923-D191-4691-A859-09062AB57208}" type="slidenum">
              <a:rPr lang="en-IN" smtClean="0"/>
              <a:t>‹#›</a:t>
            </a:fld>
            <a:endParaRPr lang="en-IN"/>
          </a:p>
        </p:txBody>
      </p:sp>
    </p:spTree>
    <p:extLst>
      <p:ext uri="{BB962C8B-B14F-4D97-AF65-F5344CB8AC3E}">
        <p14:creationId xmlns:p14="http://schemas.microsoft.com/office/powerpoint/2010/main" val="2218803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A092E2-E1EA-4756-9962-22844F2A95B9}" type="datetimeFigureOut">
              <a:rPr lang="en-IN" smtClean="0"/>
              <a:t>12-07-2024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0421923-D191-4691-A859-09062AB57208}" type="slidenum">
              <a:rPr lang="en-IN" smtClean="0"/>
              <a:t>‹#›</a:t>
            </a:fld>
            <a:endParaRPr lang="en-IN"/>
          </a:p>
        </p:txBody>
      </p:sp>
    </p:spTree>
    <p:extLst>
      <p:ext uri="{BB962C8B-B14F-4D97-AF65-F5344CB8AC3E}">
        <p14:creationId xmlns:p14="http://schemas.microsoft.com/office/powerpoint/2010/main" val="1939527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4A092E2-E1EA-4756-9962-22844F2A95B9}" type="datetimeFigureOut">
              <a:rPr lang="en-IN" smtClean="0"/>
              <a:t>12-07-2024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421923-D191-4691-A859-09062AB57208}" type="slidenum">
              <a:rPr lang="en-IN" smtClean="0"/>
              <a:t>‹#›</a:t>
            </a:fld>
            <a:endParaRPr lang="en-IN"/>
          </a:p>
        </p:txBody>
      </p:sp>
    </p:spTree>
    <p:extLst>
      <p:ext uri="{BB962C8B-B14F-4D97-AF65-F5344CB8AC3E}">
        <p14:creationId xmlns:p14="http://schemas.microsoft.com/office/powerpoint/2010/main" val="3181758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4A092E2-E1EA-4756-9962-22844F2A95B9}" type="datetimeFigureOut">
              <a:rPr lang="en-IN" smtClean="0"/>
              <a:t>12-07-2024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421923-D191-4691-A859-09062AB57208}" type="slidenum">
              <a:rPr lang="en-IN" smtClean="0"/>
              <a:t>‹#›</a:t>
            </a:fld>
            <a:endParaRPr lang="en-IN"/>
          </a:p>
        </p:txBody>
      </p:sp>
    </p:spTree>
    <p:extLst>
      <p:ext uri="{BB962C8B-B14F-4D97-AF65-F5344CB8AC3E}">
        <p14:creationId xmlns:p14="http://schemas.microsoft.com/office/powerpoint/2010/main" val="2430248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4A092E2-E1EA-4756-9962-22844F2A95B9}" type="datetimeFigureOut">
              <a:rPr lang="en-IN" smtClean="0"/>
              <a:t>12-07-2024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421923-D191-4691-A859-09062AB57208}" type="slidenum">
              <a:rPr lang="en-IN" smtClean="0"/>
              <a:t>‹#›</a:t>
            </a:fld>
            <a:endParaRPr lang="en-IN"/>
          </a:p>
        </p:txBody>
      </p:sp>
    </p:spTree>
    <p:extLst>
      <p:ext uri="{BB962C8B-B14F-4D97-AF65-F5344CB8AC3E}">
        <p14:creationId xmlns:p14="http://schemas.microsoft.com/office/powerpoint/2010/main" val="4141955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4A092E2-E1EA-4756-9962-22844F2A95B9}" type="datetimeFigureOut">
              <a:rPr lang="en-IN" smtClean="0"/>
              <a:t>12-07-2024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421923-D191-4691-A859-09062AB57208}" type="slidenum">
              <a:rPr lang="en-IN" smtClean="0"/>
              <a:t>‹#›</a:t>
            </a:fld>
            <a:endParaRPr lang="en-IN"/>
          </a:p>
        </p:txBody>
      </p:sp>
    </p:spTree>
    <p:extLst>
      <p:ext uri="{BB962C8B-B14F-4D97-AF65-F5344CB8AC3E}">
        <p14:creationId xmlns:p14="http://schemas.microsoft.com/office/powerpoint/2010/main" val="29674559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4A092E2-E1EA-4756-9962-22844F2A95B9}" type="datetimeFigureOut">
              <a:rPr lang="en-IN" smtClean="0"/>
              <a:t>12-07-2024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421923-D191-4691-A859-09062AB57208}"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5278489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4A092E2-E1EA-4756-9962-22844F2A95B9}" type="datetimeFigureOut">
              <a:rPr lang="en-IN" smtClean="0"/>
              <a:t>12-07-2024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421923-D191-4691-A859-09062AB57208}" type="slidenum">
              <a:rPr lang="en-IN" smtClean="0"/>
              <a:t>‹#›</a:t>
            </a:fld>
            <a:endParaRPr lang="en-IN"/>
          </a:p>
        </p:txBody>
      </p:sp>
    </p:spTree>
    <p:extLst>
      <p:ext uri="{BB962C8B-B14F-4D97-AF65-F5344CB8AC3E}">
        <p14:creationId xmlns:p14="http://schemas.microsoft.com/office/powerpoint/2010/main" val="15005108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4A092E2-E1EA-4756-9962-22844F2A95B9}" type="datetimeFigureOut">
              <a:rPr lang="en-IN" smtClean="0"/>
              <a:t>12-07-2024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0421923-D191-4691-A859-09062AB57208}" type="slidenum">
              <a:rPr lang="en-IN" smtClean="0"/>
              <a:t>‹#›</a:t>
            </a:fld>
            <a:endParaRPr lang="en-IN"/>
          </a:p>
        </p:txBody>
      </p:sp>
    </p:spTree>
    <p:extLst>
      <p:ext uri="{BB962C8B-B14F-4D97-AF65-F5344CB8AC3E}">
        <p14:creationId xmlns:p14="http://schemas.microsoft.com/office/powerpoint/2010/main" val="24440553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4A092E2-E1EA-4756-9962-22844F2A95B9}" type="datetimeFigureOut">
              <a:rPr lang="en-IN" smtClean="0"/>
              <a:t>12-07-2024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0421923-D191-4691-A859-09062AB57208}" type="slidenum">
              <a:rPr lang="en-IN" smtClean="0"/>
              <a:t>‹#›</a:t>
            </a:fld>
            <a:endParaRPr lang="en-IN"/>
          </a:p>
        </p:txBody>
      </p:sp>
    </p:spTree>
    <p:extLst>
      <p:ext uri="{BB962C8B-B14F-4D97-AF65-F5344CB8AC3E}">
        <p14:creationId xmlns:p14="http://schemas.microsoft.com/office/powerpoint/2010/main" val="33077799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A092E2-E1EA-4756-9962-22844F2A95B9}" type="datetimeFigureOut">
              <a:rPr lang="en-IN" smtClean="0"/>
              <a:t>12-07-2024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421923-D191-4691-A859-09062AB57208}" type="slidenum">
              <a:rPr lang="en-IN" smtClean="0"/>
              <a:t>‹#›</a:t>
            </a:fld>
            <a:endParaRPr lang="en-IN"/>
          </a:p>
        </p:txBody>
      </p:sp>
    </p:spTree>
    <p:extLst>
      <p:ext uri="{BB962C8B-B14F-4D97-AF65-F5344CB8AC3E}">
        <p14:creationId xmlns:p14="http://schemas.microsoft.com/office/powerpoint/2010/main" val="31902569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A092E2-E1EA-4756-9962-22844F2A95B9}" type="datetimeFigureOut">
              <a:rPr lang="en-IN" smtClean="0"/>
              <a:t>12-07-2024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421923-D191-4691-A859-09062AB57208}" type="slidenum">
              <a:rPr lang="en-IN" smtClean="0"/>
              <a:t>‹#›</a:t>
            </a:fld>
            <a:endParaRPr lang="en-IN"/>
          </a:p>
        </p:txBody>
      </p:sp>
    </p:spTree>
    <p:extLst>
      <p:ext uri="{BB962C8B-B14F-4D97-AF65-F5344CB8AC3E}">
        <p14:creationId xmlns:p14="http://schemas.microsoft.com/office/powerpoint/2010/main" val="495517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74A092E2-E1EA-4756-9962-22844F2A95B9}" type="datetimeFigureOut">
              <a:rPr lang="en-IN" smtClean="0"/>
              <a:t>12-07-2024</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10421923-D191-4691-A859-09062AB57208}" type="slidenum">
              <a:rPr lang="en-IN" smtClean="0"/>
              <a:t>‹#›</a:t>
            </a:fld>
            <a:endParaRPr lang="en-IN"/>
          </a:p>
        </p:txBody>
      </p:sp>
    </p:spTree>
    <p:extLst>
      <p:ext uri="{BB962C8B-B14F-4D97-AF65-F5344CB8AC3E}">
        <p14:creationId xmlns:p14="http://schemas.microsoft.com/office/powerpoint/2010/main" val="2784542709"/>
      </p:ext>
    </p:extLst>
  </p:cSld>
  <p:clrMap bg1="dk1" tx1="lt1" bg2="dk2" tx2="lt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E8C38-C0BF-839A-914D-B5390062E4EC}"/>
              </a:ext>
            </a:extLst>
          </p:cNvPr>
          <p:cNvSpPr>
            <a:spLocks noGrp="1"/>
          </p:cNvSpPr>
          <p:nvPr>
            <p:ph type="ctrTitle"/>
          </p:nvPr>
        </p:nvSpPr>
        <p:spPr/>
        <p:txBody>
          <a:bodyPr/>
          <a:lstStyle/>
          <a:p>
            <a:r>
              <a:rPr lang="en-IN" dirty="0"/>
              <a:t>Restaurant Revenue Prediction </a:t>
            </a:r>
          </a:p>
        </p:txBody>
      </p:sp>
      <p:sp>
        <p:nvSpPr>
          <p:cNvPr id="3" name="Subtitle 2">
            <a:extLst>
              <a:ext uri="{FF2B5EF4-FFF2-40B4-BE49-F238E27FC236}">
                <a16:creationId xmlns:a16="http://schemas.microsoft.com/office/drawing/2014/main" id="{04FF7F01-F280-3727-05F6-02FD0875F1BC}"/>
              </a:ext>
            </a:extLst>
          </p:cNvPr>
          <p:cNvSpPr>
            <a:spLocks noGrp="1"/>
          </p:cNvSpPr>
          <p:nvPr>
            <p:ph type="subTitle" idx="1"/>
          </p:nvPr>
        </p:nvSpPr>
        <p:spPr/>
        <p:txBody>
          <a:bodyPr anchor="t"/>
          <a:lstStyle/>
          <a:p>
            <a:r>
              <a:rPr lang="en-IN" dirty="0"/>
              <a:t>DATA ANALYSIS – IBM INTERNSHIP</a:t>
            </a:r>
          </a:p>
        </p:txBody>
      </p:sp>
    </p:spTree>
    <p:extLst>
      <p:ext uri="{BB962C8B-B14F-4D97-AF65-F5344CB8AC3E}">
        <p14:creationId xmlns:p14="http://schemas.microsoft.com/office/powerpoint/2010/main" val="2266574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48D3F-B0BF-53FA-9319-B595CD62C5A0}"/>
              </a:ext>
            </a:extLst>
          </p:cNvPr>
          <p:cNvSpPr>
            <a:spLocks noGrp="1"/>
          </p:cNvSpPr>
          <p:nvPr>
            <p:ph type="title"/>
          </p:nvPr>
        </p:nvSpPr>
        <p:spPr/>
        <p:txBody>
          <a:bodyPr/>
          <a:lstStyle/>
          <a:p>
            <a:r>
              <a:rPr lang="en-IN" dirty="0"/>
              <a:t>Introduction </a:t>
            </a:r>
          </a:p>
        </p:txBody>
      </p:sp>
      <p:sp>
        <p:nvSpPr>
          <p:cNvPr id="3" name="Text Placeholder 2">
            <a:extLst>
              <a:ext uri="{FF2B5EF4-FFF2-40B4-BE49-F238E27FC236}">
                <a16:creationId xmlns:a16="http://schemas.microsoft.com/office/drawing/2014/main" id="{A33ACBDE-B95E-BEE4-0119-8F71416E4D9A}"/>
              </a:ext>
            </a:extLst>
          </p:cNvPr>
          <p:cNvSpPr>
            <a:spLocks noGrp="1"/>
          </p:cNvSpPr>
          <p:nvPr>
            <p:ph type="body" idx="1"/>
          </p:nvPr>
        </p:nvSpPr>
        <p:spPr/>
        <p:txBody>
          <a:bodyPr>
            <a:normAutofit fontScale="92500" lnSpcReduction="20000"/>
          </a:bodyPr>
          <a:lstStyle/>
          <a:p>
            <a:pPr algn="just"/>
            <a:r>
              <a:rPr lang="en-US" dirty="0">
                <a:solidFill>
                  <a:schemeClr val="tx1">
                    <a:lumMod val="65000"/>
                    <a:lumOff val="35000"/>
                  </a:schemeClr>
                </a:solidFill>
              </a:rPr>
              <a:t>Project Overview: In this project, I aim to predict restaurant revenue by analyzing various factors that influence it. By utilizing data analytics and machine learning techniques, we can identify key predictors and improve revenue forecasting for restaurants.</a:t>
            </a:r>
          </a:p>
          <a:p>
            <a:pPr algn="just"/>
            <a:endParaRPr lang="en-IN" dirty="0">
              <a:solidFill>
                <a:schemeClr val="tx1"/>
              </a:solidFill>
            </a:endParaRPr>
          </a:p>
        </p:txBody>
      </p:sp>
    </p:spTree>
    <p:extLst>
      <p:ext uri="{BB962C8B-B14F-4D97-AF65-F5344CB8AC3E}">
        <p14:creationId xmlns:p14="http://schemas.microsoft.com/office/powerpoint/2010/main" val="1677413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FC01CBC-7565-3E2A-EB3D-2D44F4F2BC7A}"/>
              </a:ext>
            </a:extLst>
          </p:cNvPr>
          <p:cNvSpPr>
            <a:spLocks noGrp="1"/>
          </p:cNvSpPr>
          <p:nvPr>
            <p:ph type="title"/>
          </p:nvPr>
        </p:nvSpPr>
        <p:spPr/>
        <p:txBody>
          <a:bodyPr/>
          <a:lstStyle/>
          <a:p>
            <a:r>
              <a:rPr lang="en-IN" sz="3400" dirty="0"/>
              <a:t>OBJECTIVE</a:t>
            </a:r>
            <a:r>
              <a:rPr lang="en-IN" sz="4800" dirty="0"/>
              <a:t> </a:t>
            </a:r>
            <a:endParaRPr lang="en-IN" dirty="0"/>
          </a:p>
        </p:txBody>
      </p:sp>
      <p:sp>
        <p:nvSpPr>
          <p:cNvPr id="3" name="Content Placeholder 2">
            <a:extLst>
              <a:ext uri="{FF2B5EF4-FFF2-40B4-BE49-F238E27FC236}">
                <a16:creationId xmlns:a16="http://schemas.microsoft.com/office/drawing/2014/main" id="{85FA6AE2-0906-14CE-860C-7547B42A31DD}"/>
              </a:ext>
            </a:extLst>
          </p:cNvPr>
          <p:cNvSpPr>
            <a:spLocks noGrp="1"/>
          </p:cNvSpPr>
          <p:nvPr>
            <p:ph type="body" idx="1"/>
          </p:nvPr>
        </p:nvSpPr>
        <p:spPr>
          <a:xfrm>
            <a:off x="1229244" y="3922549"/>
            <a:ext cx="9733512" cy="1808947"/>
          </a:xfrm>
        </p:spPr>
        <p:txBody>
          <a:bodyPr anchor="t">
            <a:normAutofit/>
          </a:bodyPr>
          <a:lstStyle/>
          <a:p>
            <a:pPr marL="0" marR="0" lvl="0" indent="0" defTabSz="457200" rtl="0" eaLnBrk="1" fontAlgn="auto" latinLnBrk="0" hangingPunct="1">
              <a:lnSpc>
                <a:spcPct val="15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white"/>
                </a:solidFill>
                <a:effectLst/>
                <a:uLnTx/>
                <a:uFillTx/>
                <a:latin typeface="Rockwell" panose="02060603020205020403"/>
                <a:ea typeface="+mn-ea"/>
                <a:cs typeface="+mn-cs"/>
              </a:rPr>
              <a:t>To predict the revenue of specifics restaurant.</a:t>
            </a:r>
            <a:endParaRPr kumimoji="0" lang="en-IN" sz="1800" b="0" i="0" u="none" strike="noStrike" kern="1200" cap="none" spc="0" normalizeH="0" baseline="0" noProof="0" dirty="0">
              <a:ln>
                <a:noFill/>
              </a:ln>
              <a:solidFill>
                <a:prstClr val="white"/>
              </a:solidFill>
              <a:effectLst/>
              <a:uLnTx/>
              <a:uFillTx/>
              <a:latin typeface="Rockwell" panose="02060603020205020403"/>
              <a:ea typeface="+mn-ea"/>
              <a:cs typeface="+mn-cs"/>
            </a:endParaRPr>
          </a:p>
          <a:p>
            <a:pPr marL="0" marR="0" lvl="0" indent="0" defTabSz="457200" rtl="0" eaLnBrk="1" fontAlgn="auto" latinLnBrk="0" hangingPunct="1">
              <a:lnSpc>
                <a:spcPct val="15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white"/>
                </a:solidFill>
                <a:effectLst/>
                <a:uLnTx/>
                <a:uFillTx/>
                <a:latin typeface="Rockwell" panose="02060603020205020403"/>
                <a:ea typeface="+mn-ea"/>
                <a:cs typeface="+mn-cs"/>
              </a:rPr>
              <a:t>By identifying key variable that influences the data of the revenue fluctuation.</a:t>
            </a:r>
            <a:endParaRPr kumimoji="0" lang="en-IN" sz="1800" b="0" i="0" u="none" strike="noStrike" kern="1200" cap="none" spc="0" normalizeH="0" baseline="0" noProof="0" dirty="0">
              <a:ln>
                <a:noFill/>
              </a:ln>
              <a:solidFill>
                <a:prstClr val="white"/>
              </a:solidFill>
              <a:effectLst/>
              <a:uLnTx/>
              <a:uFillTx/>
              <a:latin typeface="Rockwell" panose="02060603020205020403"/>
              <a:ea typeface="+mn-ea"/>
              <a:cs typeface="+mn-cs"/>
            </a:endParaRPr>
          </a:p>
          <a:p>
            <a:pPr marL="0" marR="0" lvl="0" indent="0" defTabSz="457200" rtl="0" eaLnBrk="1" fontAlgn="auto" latinLnBrk="0" hangingPunct="1">
              <a:lnSpc>
                <a:spcPct val="150000"/>
              </a:lnSpc>
              <a:spcBef>
                <a:spcPts val="0"/>
              </a:spcBef>
              <a:spcAft>
                <a:spcPts val="0"/>
              </a:spcAft>
              <a:buClrTx/>
              <a:buSzTx/>
              <a:buFontTx/>
              <a:buChar char="•"/>
              <a:tabLst/>
              <a:defRPr/>
            </a:pPr>
            <a:r>
              <a:rPr kumimoji="0" lang="en-US" sz="1800" b="0" i="0" u="none" strike="noStrike" kern="1200" cap="none" spc="0" normalizeH="0" baseline="0" noProof="0" dirty="0">
                <a:ln>
                  <a:noFill/>
                </a:ln>
                <a:solidFill>
                  <a:prstClr val="white"/>
                </a:solidFill>
                <a:effectLst/>
                <a:uLnTx/>
                <a:uFillTx/>
                <a:latin typeface="Rockwell" panose="02060603020205020403"/>
                <a:ea typeface="+mn-ea"/>
                <a:cs typeface="+mn-cs"/>
              </a:rPr>
              <a:t>Developing a model that can predict the restaurant revenue based on the existing the data will be the important objective of this project.</a:t>
            </a:r>
          </a:p>
        </p:txBody>
      </p:sp>
      <p:sp>
        <p:nvSpPr>
          <p:cNvPr id="4" name="Rectangle 3">
            <a:extLst>
              <a:ext uri="{FF2B5EF4-FFF2-40B4-BE49-F238E27FC236}">
                <a16:creationId xmlns:a16="http://schemas.microsoft.com/office/drawing/2014/main" id="{18B42E31-AFBA-7468-9323-53D441ABD956}"/>
              </a:ext>
            </a:extLst>
          </p:cNvPr>
          <p:cNvSpPr/>
          <p:nvPr/>
        </p:nvSpPr>
        <p:spPr>
          <a:xfrm>
            <a:off x="5825765" y="1666188"/>
            <a:ext cx="5260157" cy="5191812"/>
          </a:xfrm>
          <a:prstGeom prst="rect">
            <a:avLst/>
          </a:prstGeom>
        </p:spPr>
        <p:txBody>
          <a:bodyPr/>
          <a:lstStyle/>
          <a:p>
            <a:pPr lvl="0">
              <a:buChar char="•"/>
            </a:pPr>
            <a:endParaRPr lang="en-IN" dirty="0"/>
          </a:p>
        </p:txBody>
      </p:sp>
    </p:spTree>
    <p:extLst>
      <p:ext uri="{BB962C8B-B14F-4D97-AF65-F5344CB8AC3E}">
        <p14:creationId xmlns:p14="http://schemas.microsoft.com/office/powerpoint/2010/main" val="3506849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64B8C-82AE-D980-6CCE-4FEC10A8CA95}"/>
              </a:ext>
            </a:extLst>
          </p:cNvPr>
          <p:cNvSpPr>
            <a:spLocks noGrp="1"/>
          </p:cNvSpPr>
          <p:nvPr>
            <p:ph type="title"/>
          </p:nvPr>
        </p:nvSpPr>
        <p:spPr>
          <a:xfrm>
            <a:off x="1969220" y="2714645"/>
            <a:ext cx="8253560" cy="1428710"/>
          </a:xfrm>
        </p:spPr>
        <p:txBody>
          <a:bodyPr/>
          <a:lstStyle/>
          <a:p>
            <a:pPr algn="ctr"/>
            <a:r>
              <a:rPr lang="en-IN" dirty="0"/>
              <a:t>EXPLORATORY DATA ANALYSIS - EDA</a:t>
            </a:r>
          </a:p>
        </p:txBody>
      </p:sp>
    </p:spTree>
    <p:extLst>
      <p:ext uri="{BB962C8B-B14F-4D97-AF65-F5344CB8AC3E}">
        <p14:creationId xmlns:p14="http://schemas.microsoft.com/office/powerpoint/2010/main" val="296321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F8494-F13E-91F9-C99F-6577C5C81F36}"/>
              </a:ext>
            </a:extLst>
          </p:cNvPr>
          <p:cNvSpPr>
            <a:spLocks noGrp="1"/>
          </p:cNvSpPr>
          <p:nvPr>
            <p:ph type="title"/>
          </p:nvPr>
        </p:nvSpPr>
        <p:spPr/>
        <p:txBody>
          <a:bodyPr/>
          <a:lstStyle/>
          <a:p>
            <a:r>
              <a:rPr lang="en-IN" dirty="0"/>
              <a:t>DATA COLLECTION PROCESS</a:t>
            </a:r>
          </a:p>
        </p:txBody>
      </p:sp>
      <p:sp>
        <p:nvSpPr>
          <p:cNvPr id="3" name="Content Placeholder 2">
            <a:extLst>
              <a:ext uri="{FF2B5EF4-FFF2-40B4-BE49-F238E27FC236}">
                <a16:creationId xmlns:a16="http://schemas.microsoft.com/office/drawing/2014/main" id="{AAE89FDB-42C5-DA49-F898-1496C855E823}"/>
              </a:ext>
            </a:extLst>
          </p:cNvPr>
          <p:cNvSpPr>
            <a:spLocks noGrp="1"/>
          </p:cNvSpPr>
          <p:nvPr>
            <p:ph idx="1"/>
          </p:nvPr>
        </p:nvSpPr>
        <p:spPr/>
        <p:txBody>
          <a:bodyPr>
            <a:normAutofit/>
          </a:bodyPr>
          <a:lstStyle/>
          <a:p>
            <a:pPr algn="just"/>
            <a:r>
              <a:rPr lang="en-US" dirty="0"/>
              <a:t>The dataset used in this project is sourced from website called ‘Kaggle’. It contains various features related to restaurants, which are crucial for predicting revenue.</a:t>
            </a:r>
          </a:p>
          <a:p>
            <a:r>
              <a:rPr lang="en-US" dirty="0"/>
              <a:t>Dataset </a:t>
            </a:r>
            <a:r>
              <a:rPr lang="en-IN" dirty="0"/>
              <a:t>contains 8368 rows with 17 columns in  it.</a:t>
            </a:r>
          </a:p>
        </p:txBody>
      </p:sp>
    </p:spTree>
    <p:extLst>
      <p:ext uri="{BB962C8B-B14F-4D97-AF65-F5344CB8AC3E}">
        <p14:creationId xmlns:p14="http://schemas.microsoft.com/office/powerpoint/2010/main" val="3129976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90848F-9E68-A034-A30A-F7D3508B37B4}"/>
              </a:ext>
            </a:extLst>
          </p:cNvPr>
          <p:cNvPicPr>
            <a:picLocks noChangeAspect="1"/>
          </p:cNvPicPr>
          <p:nvPr/>
        </p:nvPicPr>
        <p:blipFill>
          <a:blip r:embed="rId2"/>
          <a:stretch>
            <a:fillRect/>
          </a:stretch>
        </p:blipFill>
        <p:spPr>
          <a:xfrm>
            <a:off x="946501" y="775460"/>
            <a:ext cx="10298998" cy="5307079"/>
          </a:xfrm>
          <a:prstGeom prst="rect">
            <a:avLst/>
          </a:prstGeom>
        </p:spPr>
      </p:pic>
    </p:spTree>
    <p:extLst>
      <p:ext uri="{BB962C8B-B14F-4D97-AF65-F5344CB8AC3E}">
        <p14:creationId xmlns:p14="http://schemas.microsoft.com/office/powerpoint/2010/main" val="2594611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CA03B-D943-DD0B-8A17-450373BB639F}"/>
              </a:ext>
            </a:extLst>
          </p:cNvPr>
          <p:cNvSpPr>
            <a:spLocks noGrp="1"/>
          </p:cNvSpPr>
          <p:nvPr>
            <p:ph type="title"/>
          </p:nvPr>
        </p:nvSpPr>
        <p:spPr>
          <a:xfrm>
            <a:off x="838200" y="2766218"/>
            <a:ext cx="10515600" cy="1325563"/>
          </a:xfrm>
        </p:spPr>
        <p:txBody>
          <a:bodyPr>
            <a:normAutofit/>
          </a:bodyPr>
          <a:lstStyle/>
          <a:p>
            <a:r>
              <a:rPr lang="en-IN" sz="3200" dirty="0">
                <a:effectLst>
                  <a:outerShdw blurRad="38100" dist="38100" dir="2700000" algn="tl">
                    <a:srgbClr val="000000">
                      <a:alpha val="43137"/>
                    </a:srgbClr>
                  </a:outerShdw>
                </a:effectLst>
              </a:rPr>
              <a:t>PREDICTION PLOTS (Seaborn &amp; Matplot Libs)</a:t>
            </a:r>
          </a:p>
        </p:txBody>
      </p:sp>
    </p:spTree>
    <p:extLst>
      <p:ext uri="{BB962C8B-B14F-4D97-AF65-F5344CB8AC3E}">
        <p14:creationId xmlns:p14="http://schemas.microsoft.com/office/powerpoint/2010/main" val="2792437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2ED87E-97ED-6593-0230-3CA31051FFE3}"/>
              </a:ext>
            </a:extLst>
          </p:cNvPr>
          <p:cNvPicPr>
            <a:picLocks noChangeAspect="1"/>
          </p:cNvPicPr>
          <p:nvPr/>
        </p:nvPicPr>
        <p:blipFill>
          <a:blip r:embed="rId2"/>
          <a:stretch>
            <a:fillRect/>
          </a:stretch>
        </p:blipFill>
        <p:spPr>
          <a:xfrm>
            <a:off x="723150" y="404390"/>
            <a:ext cx="10745700" cy="6049219"/>
          </a:xfrm>
          <a:prstGeom prst="rect">
            <a:avLst/>
          </a:prstGeom>
        </p:spPr>
      </p:pic>
    </p:spTree>
    <p:extLst>
      <p:ext uri="{BB962C8B-B14F-4D97-AF65-F5344CB8AC3E}">
        <p14:creationId xmlns:p14="http://schemas.microsoft.com/office/powerpoint/2010/main" val="2131144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B0AFB6-05F2-1062-5531-1A58486D8BE2}"/>
              </a:ext>
            </a:extLst>
          </p:cNvPr>
          <p:cNvPicPr>
            <a:picLocks noChangeAspect="1"/>
          </p:cNvPicPr>
          <p:nvPr/>
        </p:nvPicPr>
        <p:blipFill>
          <a:blip r:embed="rId2"/>
          <a:stretch>
            <a:fillRect/>
          </a:stretch>
        </p:blipFill>
        <p:spPr>
          <a:xfrm>
            <a:off x="708860" y="409153"/>
            <a:ext cx="10774279" cy="6039693"/>
          </a:xfrm>
          <a:prstGeom prst="rect">
            <a:avLst/>
          </a:prstGeom>
        </p:spPr>
      </p:pic>
    </p:spTree>
    <p:extLst>
      <p:ext uri="{BB962C8B-B14F-4D97-AF65-F5344CB8AC3E}">
        <p14:creationId xmlns:p14="http://schemas.microsoft.com/office/powerpoint/2010/main" val="3504432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8A5638-A4C2-BAA8-C42F-431073E4D5DA}"/>
              </a:ext>
            </a:extLst>
          </p:cNvPr>
          <p:cNvPicPr>
            <a:picLocks noChangeAspect="1"/>
          </p:cNvPicPr>
          <p:nvPr/>
        </p:nvPicPr>
        <p:blipFill>
          <a:blip r:embed="rId2"/>
          <a:stretch>
            <a:fillRect/>
          </a:stretch>
        </p:blipFill>
        <p:spPr>
          <a:xfrm>
            <a:off x="542150" y="452022"/>
            <a:ext cx="11107700" cy="5953956"/>
          </a:xfrm>
          <a:prstGeom prst="rect">
            <a:avLst/>
          </a:prstGeom>
        </p:spPr>
      </p:pic>
    </p:spTree>
    <p:extLst>
      <p:ext uri="{BB962C8B-B14F-4D97-AF65-F5344CB8AC3E}">
        <p14:creationId xmlns:p14="http://schemas.microsoft.com/office/powerpoint/2010/main" val="690703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40C441-A0FF-56F3-4D46-F7DC00ABE2D6}"/>
              </a:ext>
            </a:extLst>
          </p:cNvPr>
          <p:cNvPicPr>
            <a:picLocks noChangeAspect="1"/>
          </p:cNvPicPr>
          <p:nvPr/>
        </p:nvPicPr>
        <p:blipFill>
          <a:blip r:embed="rId2"/>
          <a:stretch>
            <a:fillRect/>
          </a:stretch>
        </p:blipFill>
        <p:spPr>
          <a:xfrm>
            <a:off x="2866574" y="756864"/>
            <a:ext cx="6458851" cy="5344271"/>
          </a:xfrm>
          <a:prstGeom prst="rect">
            <a:avLst/>
          </a:prstGeom>
        </p:spPr>
      </p:pic>
    </p:spTree>
    <p:extLst>
      <p:ext uri="{BB962C8B-B14F-4D97-AF65-F5344CB8AC3E}">
        <p14:creationId xmlns:p14="http://schemas.microsoft.com/office/powerpoint/2010/main" val="1432247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63D87C-BFB2-D80D-95DF-C25E99A23F31}"/>
              </a:ext>
            </a:extLst>
          </p:cNvPr>
          <p:cNvPicPr>
            <a:picLocks noChangeAspect="1"/>
          </p:cNvPicPr>
          <p:nvPr/>
        </p:nvPicPr>
        <p:blipFill rotWithShape="1">
          <a:blip r:embed="rId2"/>
          <a:srcRect t="1433"/>
          <a:stretch/>
        </p:blipFill>
        <p:spPr>
          <a:xfrm>
            <a:off x="708860" y="537328"/>
            <a:ext cx="10774279" cy="5868650"/>
          </a:xfrm>
          <a:prstGeom prst="rect">
            <a:avLst/>
          </a:prstGeom>
        </p:spPr>
      </p:pic>
    </p:spTree>
    <p:extLst>
      <p:ext uri="{BB962C8B-B14F-4D97-AF65-F5344CB8AC3E}">
        <p14:creationId xmlns:p14="http://schemas.microsoft.com/office/powerpoint/2010/main" val="1730491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0DD6F-C6EE-C559-9DE6-98A5A9C6C9F9}"/>
              </a:ext>
            </a:extLst>
          </p:cNvPr>
          <p:cNvSpPr>
            <a:spLocks noGrp="1"/>
          </p:cNvSpPr>
          <p:nvPr>
            <p:ph type="title"/>
          </p:nvPr>
        </p:nvSpPr>
        <p:spPr/>
        <p:txBody>
          <a:bodyPr/>
          <a:lstStyle/>
          <a:p>
            <a:r>
              <a:rPr lang="en-IN" dirty="0"/>
              <a:t>MAKING PREDICTIONS</a:t>
            </a:r>
          </a:p>
        </p:txBody>
      </p:sp>
      <p:sp>
        <p:nvSpPr>
          <p:cNvPr id="3" name="Text Placeholder 2">
            <a:extLst>
              <a:ext uri="{FF2B5EF4-FFF2-40B4-BE49-F238E27FC236}">
                <a16:creationId xmlns:a16="http://schemas.microsoft.com/office/drawing/2014/main" id="{399B1935-DCA3-CE61-6AFC-E7AAC74FEC64}"/>
              </a:ext>
            </a:extLst>
          </p:cNvPr>
          <p:cNvSpPr>
            <a:spLocks noGrp="1"/>
          </p:cNvSpPr>
          <p:nvPr>
            <p:ph type="body" idx="1"/>
          </p:nvPr>
        </p:nvSpPr>
        <p:spPr/>
        <p:txBody>
          <a:bodyPr>
            <a:normAutofit fontScale="92500" lnSpcReduction="10000"/>
          </a:bodyPr>
          <a:lstStyle/>
          <a:p>
            <a:r>
              <a:rPr lang="en-IN" dirty="0">
                <a:solidFill>
                  <a:schemeClr val="tx1">
                    <a:lumMod val="75000"/>
                    <a:lumOff val="25000"/>
                  </a:schemeClr>
                </a:solidFill>
              </a:rPr>
              <a:t>Utilizing models</a:t>
            </a:r>
          </a:p>
          <a:p>
            <a:pPr marL="631825" indent="-368300">
              <a:buAutoNum type="arabicPeriod"/>
            </a:pPr>
            <a:r>
              <a:rPr lang="en-IN" dirty="0">
                <a:solidFill>
                  <a:schemeClr val="tx1">
                    <a:lumMod val="75000"/>
                    <a:lumOff val="25000"/>
                  </a:schemeClr>
                </a:solidFill>
              </a:rPr>
              <a:t>Linear Regression Model</a:t>
            </a:r>
          </a:p>
          <a:p>
            <a:pPr marL="631825" indent="-368300">
              <a:buAutoNum type="arabicPeriod"/>
            </a:pPr>
            <a:r>
              <a:rPr lang="en-IN" dirty="0">
                <a:solidFill>
                  <a:schemeClr val="tx1">
                    <a:lumMod val="75000"/>
                    <a:lumOff val="25000"/>
                  </a:schemeClr>
                </a:solidFill>
              </a:rPr>
              <a:t>Random Forest Model</a:t>
            </a:r>
          </a:p>
        </p:txBody>
      </p:sp>
    </p:spTree>
    <p:extLst>
      <p:ext uri="{BB962C8B-B14F-4D97-AF65-F5344CB8AC3E}">
        <p14:creationId xmlns:p14="http://schemas.microsoft.com/office/powerpoint/2010/main" val="886274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61394-6892-58D1-1EC6-C52B1A29DBBA}"/>
              </a:ext>
            </a:extLst>
          </p:cNvPr>
          <p:cNvSpPr>
            <a:spLocks noGrp="1"/>
          </p:cNvSpPr>
          <p:nvPr>
            <p:ph type="title"/>
          </p:nvPr>
        </p:nvSpPr>
        <p:spPr/>
        <p:txBody>
          <a:bodyPr/>
          <a:lstStyle/>
          <a:p>
            <a:r>
              <a:rPr lang="en-IN" dirty="0">
                <a:solidFill>
                  <a:schemeClr val="tx1">
                    <a:lumMod val="75000"/>
                    <a:lumOff val="25000"/>
                  </a:schemeClr>
                </a:solidFill>
              </a:rPr>
              <a:t>LINEAR REGRESSION MODEL (95.72%)</a:t>
            </a:r>
            <a:endParaRPr lang="en-IN" dirty="0"/>
          </a:p>
        </p:txBody>
      </p:sp>
      <p:pic>
        <p:nvPicPr>
          <p:cNvPr id="5" name="Content Placeholder 4">
            <a:extLst>
              <a:ext uri="{FF2B5EF4-FFF2-40B4-BE49-F238E27FC236}">
                <a16:creationId xmlns:a16="http://schemas.microsoft.com/office/drawing/2014/main" id="{9E4AB0A3-A7F5-8C82-B049-DB3762AC11E0}"/>
              </a:ext>
            </a:extLst>
          </p:cNvPr>
          <p:cNvPicPr>
            <a:picLocks noGrp="1" noChangeAspect="1"/>
          </p:cNvPicPr>
          <p:nvPr>
            <p:ph idx="1"/>
          </p:nvPr>
        </p:nvPicPr>
        <p:blipFill>
          <a:blip r:embed="rId2"/>
          <a:stretch>
            <a:fillRect/>
          </a:stretch>
        </p:blipFill>
        <p:spPr>
          <a:xfrm>
            <a:off x="3035778" y="2095500"/>
            <a:ext cx="6110918" cy="3695700"/>
          </a:xfrm>
        </p:spPr>
      </p:pic>
    </p:spTree>
    <p:extLst>
      <p:ext uri="{BB962C8B-B14F-4D97-AF65-F5344CB8AC3E}">
        <p14:creationId xmlns:p14="http://schemas.microsoft.com/office/powerpoint/2010/main" val="406219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92DD0-3404-2A1D-7462-30CA366671D0}"/>
              </a:ext>
            </a:extLst>
          </p:cNvPr>
          <p:cNvSpPr>
            <a:spLocks noGrp="1"/>
          </p:cNvSpPr>
          <p:nvPr>
            <p:ph type="title"/>
          </p:nvPr>
        </p:nvSpPr>
        <p:spPr/>
        <p:txBody>
          <a:bodyPr/>
          <a:lstStyle/>
          <a:p>
            <a:r>
              <a:rPr lang="en-IN" dirty="0"/>
              <a:t>RANDOM FOREST MODEL (99.98%) </a:t>
            </a:r>
            <a:r>
              <a:rPr lang="en-IN" sz="2000" dirty="0"/>
              <a:t>SELECTED</a:t>
            </a:r>
            <a:endParaRPr lang="en-IN" dirty="0"/>
          </a:p>
        </p:txBody>
      </p:sp>
      <p:pic>
        <p:nvPicPr>
          <p:cNvPr id="5" name="Content Placeholder 4">
            <a:extLst>
              <a:ext uri="{FF2B5EF4-FFF2-40B4-BE49-F238E27FC236}">
                <a16:creationId xmlns:a16="http://schemas.microsoft.com/office/drawing/2014/main" id="{CDF8CD23-82AD-B6E7-0A8B-22DC7DB965AA}"/>
              </a:ext>
            </a:extLst>
          </p:cNvPr>
          <p:cNvPicPr>
            <a:picLocks noGrp="1" noChangeAspect="1"/>
          </p:cNvPicPr>
          <p:nvPr>
            <p:ph idx="1"/>
          </p:nvPr>
        </p:nvPicPr>
        <p:blipFill>
          <a:blip r:embed="rId2"/>
          <a:stretch>
            <a:fillRect/>
          </a:stretch>
        </p:blipFill>
        <p:spPr>
          <a:xfrm>
            <a:off x="2763880" y="2095500"/>
            <a:ext cx="6654715" cy="3695700"/>
          </a:xfrm>
        </p:spPr>
      </p:pic>
    </p:spTree>
    <p:extLst>
      <p:ext uri="{BB962C8B-B14F-4D97-AF65-F5344CB8AC3E}">
        <p14:creationId xmlns:p14="http://schemas.microsoft.com/office/powerpoint/2010/main" val="1467977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0A433-EE3B-5D85-50DD-6353193458E3}"/>
              </a:ext>
            </a:extLst>
          </p:cNvPr>
          <p:cNvSpPr>
            <a:spLocks noGrp="1"/>
          </p:cNvSpPr>
          <p:nvPr>
            <p:ph type="title"/>
          </p:nvPr>
        </p:nvSpPr>
        <p:spPr/>
        <p:txBody>
          <a:bodyPr/>
          <a:lstStyle/>
          <a:p>
            <a:r>
              <a:rPr lang="en-IN" dirty="0"/>
              <a:t>CONCLUSION </a:t>
            </a:r>
          </a:p>
        </p:txBody>
      </p:sp>
      <p:sp>
        <p:nvSpPr>
          <p:cNvPr id="3" name="Content Placeholder 2">
            <a:extLst>
              <a:ext uri="{FF2B5EF4-FFF2-40B4-BE49-F238E27FC236}">
                <a16:creationId xmlns:a16="http://schemas.microsoft.com/office/drawing/2014/main" id="{90F7E7B4-AA2B-2A49-D92C-8C72B32014B3}"/>
              </a:ext>
            </a:extLst>
          </p:cNvPr>
          <p:cNvSpPr>
            <a:spLocks noGrp="1"/>
          </p:cNvSpPr>
          <p:nvPr>
            <p:ph idx="1"/>
          </p:nvPr>
        </p:nvSpPr>
        <p:spPr/>
        <p:txBody>
          <a:bodyPr>
            <a:normAutofit/>
          </a:bodyPr>
          <a:lstStyle/>
          <a:p>
            <a:pPr algn="just"/>
            <a:r>
              <a:rPr lang="en-US" dirty="0">
                <a:solidFill>
                  <a:schemeClr val="tx1">
                    <a:lumMod val="85000"/>
                    <a:lumOff val="15000"/>
                  </a:schemeClr>
                </a:solidFill>
              </a:rPr>
              <a:t>The goal of this project was to predict restaurant revenue by analyzing various influential factors. By cleaning and preparing the data, conducting exploratory data analysis, and developing predictive models, we pinpointed key variables that affect revenue. Our findings emphasize the critical role of ratings, marketing budgets, and social media presence in determining restaurant revenue, offering valuable insights for restaurant owners and stakeholders.</a:t>
            </a:r>
            <a:endParaRPr lang="en-IN" dirty="0">
              <a:solidFill>
                <a:schemeClr val="tx1">
                  <a:lumMod val="85000"/>
                  <a:lumOff val="15000"/>
                </a:schemeClr>
              </a:solidFill>
            </a:endParaRPr>
          </a:p>
        </p:txBody>
      </p:sp>
    </p:spTree>
    <p:extLst>
      <p:ext uri="{BB962C8B-B14F-4D97-AF65-F5344CB8AC3E}">
        <p14:creationId xmlns:p14="http://schemas.microsoft.com/office/powerpoint/2010/main" val="524103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51255-8912-08BC-3426-DBFA1D7ADB45}"/>
              </a:ext>
            </a:extLst>
          </p:cNvPr>
          <p:cNvSpPr>
            <a:spLocks noGrp="1"/>
          </p:cNvSpPr>
          <p:nvPr>
            <p:ph type="title"/>
          </p:nvPr>
        </p:nvSpPr>
        <p:spPr>
          <a:xfrm>
            <a:off x="838200" y="2766218"/>
            <a:ext cx="10515600" cy="1325563"/>
          </a:xfrm>
        </p:spPr>
        <p:txBody>
          <a:bodyPr>
            <a:normAutofit/>
          </a:bodyPr>
          <a:lstStyle/>
          <a:p>
            <a:pPr algn="ctr"/>
            <a:r>
              <a:rPr lang="en-IN" sz="6000" dirty="0"/>
              <a:t>THANK YOU</a:t>
            </a:r>
          </a:p>
        </p:txBody>
      </p:sp>
    </p:spTree>
    <p:extLst>
      <p:ext uri="{BB962C8B-B14F-4D97-AF65-F5344CB8AC3E}">
        <p14:creationId xmlns:p14="http://schemas.microsoft.com/office/powerpoint/2010/main" val="35938113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17</TotalTime>
  <Words>249</Words>
  <Application>Microsoft Office PowerPoint</Application>
  <PresentationFormat>Widescreen</PresentationFormat>
  <Paragraphs>22</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Bookman Old Style</vt:lpstr>
      <vt:lpstr>Rockwell</vt:lpstr>
      <vt:lpstr>Damask</vt:lpstr>
      <vt:lpstr>Restaurant Revenue Prediction </vt:lpstr>
      <vt:lpstr>Introduction </vt:lpstr>
      <vt:lpstr>OBJECTIVE </vt:lpstr>
      <vt:lpstr>EXPLORATORY DATA ANALYSIS - EDA</vt:lpstr>
      <vt:lpstr>DATA COLLECTION PROCESS</vt:lpstr>
      <vt:lpstr>PowerPoint Presentation</vt:lpstr>
      <vt:lpstr>PREDICTION PLOTS (Seaborn &amp; Matplot Libs)</vt:lpstr>
      <vt:lpstr>PowerPoint Presentation</vt:lpstr>
      <vt:lpstr>PowerPoint Presentation</vt:lpstr>
      <vt:lpstr>PowerPoint Presentation</vt:lpstr>
      <vt:lpstr>PowerPoint Presentation</vt:lpstr>
      <vt:lpstr>PowerPoint Presentation</vt:lpstr>
      <vt:lpstr>MAKING PREDICTIONS</vt:lpstr>
      <vt:lpstr>LINEAR REGRESSION MODEL (95.72%)</vt:lpstr>
      <vt:lpstr>RANDOM FOREST MODEL (99.98%) SELECTED</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Trush Shah</dc:creator>
  <cp:lastModifiedBy>Trush Shah</cp:lastModifiedBy>
  <cp:revision>3</cp:revision>
  <dcterms:created xsi:type="dcterms:W3CDTF">2024-07-11T10:30:30Z</dcterms:created>
  <dcterms:modified xsi:type="dcterms:W3CDTF">2024-07-12T07:44:58Z</dcterms:modified>
</cp:coreProperties>
</file>